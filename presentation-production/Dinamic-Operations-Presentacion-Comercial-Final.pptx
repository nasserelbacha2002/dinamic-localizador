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Dinamic Operations resuelve tres preguntas de cualquier operación con personal en campo: qué trabajo hay que hacer, quién tiene que estar y si efectivamente estuvo.</a:t>
            </a:r>
          </a:p>
          <a:p>
            <a:r>
              <a:t>La presentación sigue ese orden: primero cómo se configura y se planifica, después qué vive el colaborador y, al final, qué ve quien administra.</a:t>
            </a:r>
          </a:p>
          <a:p>
            <a:r>
              <a:t>Decir siempre: el colaborador no necesita instalar otra app; usa su WhatsApp. La asistencia es un módulo de Dinamic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mapa completo en una página. Arriba, lo que se configura una vez: la empresa, sus reglas, los clientes, los servicios (los lugares físicos) y los colaboradores con su teléfono.</a:t>
            </a:r>
          </a:p>
          <a:p>
            <a:r>
              <a:t>Abajo, lo que se repite: se crea una operación sobre un servicio, se asignan personas, cada asignación genera una jornada, la jornada se ficha por WhatsApp y todo termina en el Inicio, las estadísticas y los reportes.</a:t>
            </a:r>
          </a:p>
          <a:p>
            <a:r>
              <a:t>Las dependencias son reales: no hay operación sin servicio, no hay jornada sin asignación y no se puede fichar sin un colaborador activo con ese teléfono.</a:t>
            </a:r>
          </a:p>
          <a:p>
            <a:r>
              <a:t>El cliente es opcional pero recomendado: agrupa servicios.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configuración de la empresa define cómo se va a evaluar todo lo que pase después.</a:t>
            </a:r>
          </a:p>
          <a:p>
            <a:r>
              <a:t>En la demo: zona horaria GMT-3, horario predeterminado 08:00 a 17:00, radio permitido 150 m, tolerancia de llegada 30 minutos antes y 15 después, salida anticipada 15 minutos y recordatorio 24 horas antes.</a:t>
            </a:r>
          </a:p>
          <a:p>
            <a:r>
              <a:t>Además: horario semanal, si la salida exige ubicación, si se permiten correcciones manuales, alertas a responsables, reporte diario por email, plantillas para operaciones con varios turnos, categorías de colaboradores y zonas.</a:t>
            </a:r>
          </a:p>
          <a:p>
            <a:r>
              <a:t>Las zonas sirven para recomendar personas cercanas; no validan el fichaje.</a:t>
            </a:r>
          </a:p>
          <a:p>
            <a:r>
              <a:t>Mensaje clave: si un fichaje sale tarde o fuera del radio, es por estas reglas.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roles alcanzan para entender el panel: el administrador (dueño o admin) configura y gestiona usuarios; el supervisor controla la operación, revisa y carga asistencias; RR.HH. gestiona colaboradores y ausencias. Operador y solo lectura son de consulta.</a:t>
            </a:r>
          </a:p>
          <a:p>
            <a:r>
              <a:t>Los permisos se aplican en el servidor según el rol, no solo ocultando botones.</a:t>
            </a:r>
          </a:p>
          <a:p>
            <a:r>
              <a:t>Separación importante: usuario del panel no es lo mismo que colaborador. El colaborador no tiene login; su identidad es su teléfono de WhatsApp.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cliente es la cuenta o empresa para la cual se realizan los trabajos. En la demo hay tres: Torre Corporativa, Clínica Norte y Hotel Central.</a:t>
            </a:r>
          </a:p>
          <a:p>
            <a:r>
              <a:t>El cliente es un agrupador: no tiene dirección ni radio. Hotel Central tiene dos servicios, Palermo y Centro, y cada uno tiene su propio punto.</a:t>
            </a:r>
          </a:p>
          <a:p>
            <a:r>
              <a:t>Es opcional pero recomendado: ordena filtros, servicios y colaboradores habilitados para ese cliente.</a:t>
            </a:r>
          </a:p>
          <a:p>
            <a:r>
              <a:t>No decir que el cliente tiene geocerca ni que es obligatorio.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servicio es el lugar físico donde se realiza la operación: Hotel Central — Palermo, Av. Santa Fe 3253.</a:t>
            </a:r>
          </a:p>
          <a:p>
            <a:r>
              <a:t>Tiene dirección, coordenadas y un radio permitido, en la demo 150 metros. Puede pertenecer a un cliente y tener localidad y formato.</a:t>
            </a:r>
          </a:p>
          <a:p>
            <a:r>
              <a:t>La llegada se mide contra ese punto, no contra la dirección escrita. El esquema de la derecha es a escala: Lucía marcó a 21,6 metros.</a:t>
            </a:r>
          </a:p>
          <a:p>
            <a:r>
              <a:t>Antes de operar hay que verificar que el punto cubra la puerta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Lucía Fernández, cargada por la empresa con su teléfono +54 9 11 5555-0001, tipo fijo.</a:t>
            </a:r>
          </a:p>
          <a:p>
            <a:r>
              <a:t>Ese teléfono es su identidad: desde ese número el bot la reconoce y le muestra sus jornadas. No hay app, invitación ni usuario del panel para el colaborador.</a:t>
            </a:r>
          </a:p>
          <a:p>
            <a:r>
              <a:t>La ficha también guarda categoría, zona de residencia (mejora las recomendaciones), clientes en los que trabaja y grupos.</a:t>
            </a:r>
          </a:p>
          <a:p>
            <a:r>
              <a:t>La carga puede ser manual o por importación; importar no les envía mensajes.</a:t>
            </a:r>
          </a:p>
          <a:p>
            <a:r>
              <a:t>Si preguntan por teléfonos compartidos u otra empresa, dejarlo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corta. Equipo Hotel Central: siete integrantes activos, con nombre y teléfono.</a:t>
            </a:r>
          </a:p>
          <a:p>
            <a:r>
              <a:t>Un grupo es un atajo para asignar: al aplicarlo a una operación se muestra una vista previa y se confirman las asignaciones.</a:t>
            </a:r>
          </a:p>
          <a:p>
            <a:r>
              <a:t>No es obligatorio para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diferencia clave para alguien nuevo: el servicio es el dónde; la operación es el qué y el cuándo.</a:t>
            </a:r>
          </a:p>
          <a:p>
            <a:r>
              <a:t>Una operación siempre se crea sobre un servicio. Puede ser puntual (una fecha) o recurrente (un horario semanal con vigencia); con un solo horario o con varios turnos; en las recurrentes, con el horario de la empresa o uno propio; y con las tolerancias de la empresa o unas particulares.</a:t>
            </a:r>
          </a:p>
          <a:p>
            <a:r>
              <a:t>A la derecha, el formulario real: modo de horario, inicio y fin, y las tolerancias que heredan el valor de la empresa salvo que se personalicen.</a:t>
            </a:r>
          </a:p>
          <a:p>
            <a:r>
              <a:t>No hay un cupo de personal en la operación: la cobertura son las personas que se asignan.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Asignar es unir personas con una operación. Cada asignación genera la jornada de esa persona: lo que se espera de ella ese día.</a:t>
            </a:r>
          </a:p>
          <a:p>
            <a:r>
              <a:t>Se puede asignar una por una, en lote, con un grupo de trabajo o desde recomendaciones. La recomendación ordena personas según historial y cercanía; no asigna por sí misma: la decisión es del responsable.</a:t>
            </a:r>
          </a:p>
          <a:p>
            <a:r>
              <a:t>Asignar no manda un WhatsApp en ese momento. El siguiente mensaje es el recordatorio de confirmación, si está activo.</a:t>
            </a:r>
          </a:p>
          <a:p>
            <a:r>
              <a:t>En la tabla: Lucía, Mateo y Sofía, tres de las seis personas asignadas a Palermo, con su estado de asistencia.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que empiece el turno, el colaborador usa el mismo chat. Diego escribe "hola" y recibe el menú real: marcar llegada o salida, avisar ausencia, consultar la jornada, ver próximos turnos y confirmar asistencia.</a:t>
            </a:r>
          </a:p>
          <a:p>
            <a:r>
              <a:t>Pablo escribe "Confirmo asistencia" y el sistema confirma su jornada de Hotel Central — Palermo, 25/10 a las 17:00.</a:t>
            </a:r>
          </a:p>
          <a:p>
            <a:r>
              <a:t>El recordatorio de confirmación se envía si está activo en la configuración. No es instantáneo al asignar.</a:t>
            </a:r>
          </a:p>
          <a:p>
            <a:r>
              <a:t>Los mensajes son los textos exactos que devolvió el sistema en la ejecución de la demo.</a:t>
            </a:r>
          </a:p>
          <a:p>
            <a:r>
              <a:t>Diego y Pablo vuelven más adelante: Diego avisa que no puede y Pablo confirmó pero no fue.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principal. Ahora se entiende por qué el bot puede validar: Lucía está asignada a una operación en un servicio con punto y radio.</a:t>
            </a:r>
          </a:p>
          <a:p>
            <a:r>
              <a:t>Escribe "Llegué", el sistema encuentra su jornada y le pide la ubicación; la comparte y recibe la confirmación: llegada 16:31, a 22 metros.</a:t>
            </a:r>
          </a:p>
          <a:p>
            <a:r>
              <a:t>A la derecha, el mismo evento en el panel: 25/10/2026 16:31, en punto, origen WhatsApp, 21,6 m dentro de 150 m, situación Válido.</a:t>
            </a:r>
          </a:p>
          <a:p>
            <a:r>
              <a:t>Los mensajes son los textos exactos que devolvió el sistema en la ejecución de la demo.</a:t>
            </a:r>
          </a:p>
          <a:p>
            <a:r>
              <a:t>Hay un punto al llegar y, si corresponde, otro al irse. No hay seguimiento durante el turno.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controles: el horario (tolerancias de llegada de la empresa o de la operación) y el lugar (radio del servicio y, si está configurado, un margen de revisión).</a:t>
            </a:r>
          </a:p>
          <a:p>
            <a:r>
              <a:t>Válida: Lucía, a 21,6 m dentro de 150 m.</a:t>
            </a:r>
          </a:p>
          <a:p>
            <a:r>
              <a:t>Para revisión: Julián, a 189 m de Clínica Norte, apenas fuera del radio y dentro del margen; queda pendiente.</a:t>
            </a:r>
          </a:p>
          <a:p>
            <a:r>
              <a:t>Rechazada: lejos del lugar; no se valida y el intento queda guardado.</a:t>
            </a:r>
          </a:p>
          <a:p>
            <a:r>
              <a:t>El margen de revisión existe porque está configurado en la empresa; no decir que siempre existe.</a:t>
            </a:r>
          </a:p>
          <a:p>
            <a:r>
              <a:t>Tarde dentro de la tolerancia no es rechazo: Sofía llegó 17:05 y su llegada es válida, marcada como tarde.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Lucía escribe "Me voy" y comparte la ubicación: salida 17:46, a 14 metros, con 1 minuto de tiempo extra. En el panel figura origen WhatsApp.</a:t>
            </a:r>
          </a:p>
          <a:p>
            <a:r>
              <a:t>Contraste: Mateo llegó a las 16:31 y no marcó la salida; queda sin cierre, visible para el responsable.</a:t>
            </a:r>
          </a:p>
          <a:p>
            <a:r>
              <a:t>En la demo la salida pide ubicación; es configurable en 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situaciones distintas del mismo día, cada una con su nombre.</a:t>
            </a:r>
          </a:p>
          <a:p>
            <a:r>
              <a:t>Camila no registró llegada. Julián fichó fuera del radio y un responsable lo revisó y aprobó. Mateo llegó y no marcó la salida. Pablo había confirmado asistencia por WhatsApp y no fue. Sofía llegó tarde, 17:05, y su llegada es válida.</a:t>
            </a:r>
          </a:p>
          <a:p>
            <a:r>
              <a:t>El responsable no tiene que deducirlo: cada caso queda diferenciado en la lista, en el Inicio y en el reporte.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 avisa por WhatsApp que no puede ir a Torre Corporativa — Microcentro, 25/10/2026 a las 19:00. Los mensajes son los textos exactos que devolvió el sistema.</a:t>
            </a:r>
          </a:p>
          <a:p>
            <a:r>
              <a:t>Dinamic Operations arma la lista de candidatos con datos reales (equipo, lugar, historial): Sofía Romero, Camila Duarte y Elena Vargas.</a:t>
            </a:r>
          </a:p>
          <a:p>
            <a:r>
              <a:t>Valeria, la responsable, define la cobertura desde el panel: asigna a Sofía. La operación muestra a Sofía asignada y a Diego en el historial como cancelado.</a:t>
            </a:r>
          </a:p>
          <a:p>
            <a:r>
              <a:t>Decir "elige una persona": la cobertura la define el responsable desde el panel. No prometer que quien cubre recibe un aviso en este paso.</a:t>
            </a:r>
          </a:p>
          <a:p>
            <a:r>
              <a:t>Ausencias y vacaciones son otro circuito: se piden por panel o por WhatsApp y las aprueba RR.HH.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 el Inicio se lee solo, porque ya sabemos de dónde salen los números: 11 jornadas programadas a partir de las operaciones y sus asignaciones.</a:t>
            </a:r>
          </a:p>
          <a:p>
            <a:r>
              <a:t>Cinco cifras: 7 presentes, 1 avisó que no asistiría (Diego), 1 llegada tarde (Sofía), 4 sin cierre de salida y 1 ausencia justificada.</a:t>
            </a:r>
          </a:p>
          <a:p>
            <a:r>
              <a:t>Decir "al abrir el panel", no "en tiempo real". No recorrer las doce cifras.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lista de asistencias tiene una fila por jornada, con llegada, salida, distancia, validación, ubicación y puntualidad. Se filtra por operación, colaborador, servicio, turno, validación y fechas.</a:t>
            </a:r>
          </a:p>
          <a:p>
            <a:r>
              <a:t>Cada fila abre su detalle. Ejemplo: Julián fichó por WhatsApp a las 16:31, a 189 m; quedó pendiente y Valeria lo aprobó con un motivo, por eso figura Válido y se conserva "fuera del radio".</a:t>
            </a:r>
          </a:p>
          <a:p>
            <a:r>
              <a:t>Una carga manual queda como carga manual, con quién la hizo; no se disfraza de mensaje ni se inventan coordenadas.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Estadísticas del período con cinco vistas: general, por empleado, por operación, por servicio y por incidencias.</a:t>
            </a:r>
          </a:p>
          <a:p>
            <a:r>
              <a:t>General: presentismo 77,8 %, puntualidad 85,7 %, jornadas sin cierre, fuera de geocerca y pendientes de revisión.</a:t>
            </a:r>
          </a:p>
          <a:p>
            <a:r>
              <a:t>Abajo, por servicio: Clínica Norte, Hotel Central — Palermo y Torre Corporativa. Se exporta a CSV o Excel.</a:t>
            </a:r>
          </a:p>
          <a:p>
            <a:r>
              <a:t>No hay una vista por cliente. Las estadísticas muestran el período elegido, sin comparativas entre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reporte diario llega por email a los destinatarios configurados: resumen (8 jornadas, 5 presentes, 2 ausencias, 1 justificada, 1 tardanza, 2 sin llegada, 4 sin salida), incidencias importantes y un Excel adjunto.</a:t>
            </a:r>
          </a:p>
          <a:p>
            <a:r>
              <a:t>Se habilita en la configuración de la empresa con una hora de envío; en la demo, 08:00.</a:t>
            </a:r>
          </a:p>
          <a:p>
            <a:r>
              <a:t>Requiere el envío activo y una casilla real. El correo mostrado es el reporte real del 24/10, entregado en una casilla de prueba.</a:t>
            </a:r>
          </a:p>
          <a:p>
            <a:r>
              <a:t>El archivo mensual también llega por correo y no tiene una pantalla propia.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orden sigue las dependencias reales. Dinamic crea la empresa y envía la invitación al administrador; el administrador entra y define las reglas.</a:t>
            </a:r>
          </a:p>
          <a:p>
            <a:r>
              <a:t>Después se cargan clientes (opcional), servicios con su punto verificado y colaboradores con su teléfono. Se crea la primera operación, se asignan personas y aparecen las jornadas.</a:t>
            </a:r>
          </a:p>
          <a:p>
            <a:r>
              <a:t>La prueba se hace con un teléfono real: "Llegué", ubicación, "Me voy". Se revisa el Inicio y se espera el primer reporte diario.</a:t>
            </a:r>
          </a:p>
          <a:p>
            <a:r>
              <a:t>La primera operación se prueba en días. No comprometer plazos en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que la empresa tiene que tener a mano: usuarios del panel, clientes, servicios con su dirección o coordenadas, colaboradores con teléfono, horarios, tolerancias y quién recibe alertas y reportes.</a:t>
            </a:r>
          </a:p>
          <a:p>
            <a:r>
              <a:t>Clientes, servicios, colaboradores y operaciones se pueden importar desde planilla. Importar no les escribe a las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"La prueba que proponemos es un servicio, un equipo y una semana de turnos reales. En esa semana se revisa cada día el Inicio y el reporte diario. Si con eso el responsable sabe quién llegó, quién falta y qué hay que mirar, se carga el resto."</a:t>
            </a:r>
          </a:p>
          <a:p>
            <a:r>
              <a:t>Mantener el cierre en lo que el producto hace hoy: planificar, fichar por WhatsApp y controlar desde el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31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5.png"/><Relationship Id="rId1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D742E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B2430"/>
                </a:solidFill>
                <a:latin typeface="Arial"/>
              </a:rPr>
              <a:t>Qué trabajo hay que hacer, quién tiene que estar y si estuvo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5B6573"/>
                </a:solidFill>
                <a:latin typeface="Arial"/>
              </a:rPr>
              <a:t>Dinamic Operations organiza servicios, personas y operaciones. La asistencia se registra por WhatsApp, sin una app más, y quien administra lo controla desde un panel.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074920"/>
            <a:ext cx="10911535" cy="0"/>
          </a:xfrm>
          <a:prstGeom prst="line">
            <a:avLst/>
          </a:prstGeom>
          <a:ln w="19050">
            <a:solidFill>
              <a:srgbClr val="D9DEE5"/>
            </a:solidFill>
          </a:ln>
        </p:spPr>
      </p:cxnSp>
      <p:sp>
        <p:nvSpPr>
          <p:cNvPr id="6" name="Oval 5"/>
          <p:cNvSpPr/>
          <p:nvPr/>
        </p:nvSpPr>
        <p:spPr>
          <a:xfrm>
            <a:off x="557784" y="4992624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52760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Configurar</a:t>
            </a:r>
          </a:p>
        </p:txBody>
      </p:sp>
      <p:sp>
        <p:nvSpPr>
          <p:cNvPr id="8" name="Oval 7"/>
          <p:cNvSpPr/>
          <p:nvPr/>
        </p:nvSpPr>
        <p:spPr>
          <a:xfrm>
            <a:off x="4194962" y="4992624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1418" y="52760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Planificar</a:t>
            </a:r>
          </a:p>
        </p:txBody>
      </p:sp>
      <p:sp>
        <p:nvSpPr>
          <p:cNvPr id="10" name="Oval 9"/>
          <p:cNvSpPr/>
          <p:nvPr/>
        </p:nvSpPr>
        <p:spPr>
          <a:xfrm>
            <a:off x="7832140" y="4992624"/>
            <a:ext cx="164592" cy="164592"/>
          </a:xfrm>
          <a:prstGeom prst="ellipse">
            <a:avLst/>
          </a:prstGeom>
          <a:solidFill>
            <a:srgbClr val="ED7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8596" y="52760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ED742E"/>
                </a:solidFill>
                <a:latin typeface="Arial"/>
              </a:rPr>
              <a:t>Fichar</a:t>
            </a:r>
          </a:p>
        </p:txBody>
      </p:sp>
      <p:sp>
        <p:nvSpPr>
          <p:cNvPr id="12" name="Oval 11"/>
          <p:cNvSpPr/>
          <p:nvPr/>
        </p:nvSpPr>
        <p:spPr>
          <a:xfrm>
            <a:off x="11469319" y="4992624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2231" y="52760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Controlar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Cómo está organizado Dinamic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Cada pieza depende de la anterior. Lo que se configura al empezar es lo que después evalúa cada jornada.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ENTENDER DINAMIC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89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A939F"/>
                </a:solidFill>
                <a:latin typeface="Arial"/>
              </a:rPr>
              <a:t>SE CONFIGURA AL EMPEZAR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286254"/>
            <a:ext cx="11094415" cy="0"/>
          </a:xfrm>
          <a:prstGeom prst="line">
            <a:avLst/>
          </a:prstGeom>
          <a:ln w="19050">
            <a:solidFill>
              <a:srgbClr val="D9DEE5"/>
            </a:solidFill>
          </a:ln>
        </p:spPr>
      </p:cxnSp>
      <p:sp>
        <p:nvSpPr>
          <p:cNvPr id="9" name="Oval 8"/>
          <p:cNvSpPr/>
          <p:nvPr/>
        </p:nvSpPr>
        <p:spPr>
          <a:xfrm>
            <a:off x="466344" y="22039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48742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Empresa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278917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La cuenta en Dinamic</a:t>
            </a:r>
          </a:p>
        </p:txBody>
      </p:sp>
      <p:sp>
        <p:nvSpPr>
          <p:cNvPr id="12" name="Oval 11"/>
          <p:cNvSpPr/>
          <p:nvPr/>
        </p:nvSpPr>
        <p:spPr>
          <a:xfrm>
            <a:off x="3239947" y="22039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6403" y="248742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Configuración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6403" y="278917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Reglas de horario, radio y avisos</a:t>
            </a:r>
          </a:p>
        </p:txBody>
      </p:sp>
      <p:sp>
        <p:nvSpPr>
          <p:cNvPr id="15" name="Oval 14"/>
          <p:cNvSpPr/>
          <p:nvPr/>
        </p:nvSpPr>
        <p:spPr>
          <a:xfrm>
            <a:off x="6013551" y="22039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0007" y="248742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Clientes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0007" y="278917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Para quién se trabaja</a:t>
            </a:r>
          </a:p>
        </p:txBody>
      </p:sp>
      <p:sp>
        <p:nvSpPr>
          <p:cNvPr id="18" name="Oval 17"/>
          <p:cNvSpPr/>
          <p:nvPr/>
        </p:nvSpPr>
        <p:spPr>
          <a:xfrm>
            <a:off x="8787155" y="22039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611" y="248742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Servicios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611" y="278917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Dónde se trabaja</a:t>
            </a:r>
          </a:p>
        </p:txBody>
      </p:sp>
      <p:sp>
        <p:nvSpPr>
          <p:cNvPr id="21" name="Oval 20"/>
          <p:cNvSpPr/>
          <p:nvPr/>
        </p:nvSpPr>
        <p:spPr>
          <a:xfrm>
            <a:off x="11560759" y="22039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3671" y="248742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Colaboradores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3671" y="278917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Quién trabaja, con su WhatsApp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1213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A939F"/>
                </a:solidFill>
                <a:latin typeface="Arial"/>
              </a:rPr>
              <a:t>SE PLANIFICA Y SE CONTROLA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206494"/>
            <a:ext cx="11094415" cy="0"/>
          </a:xfrm>
          <a:prstGeom prst="line">
            <a:avLst/>
          </a:prstGeom>
          <a:ln w="19050">
            <a:solidFill>
              <a:srgbClr val="D9DEE5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466344" y="412419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440766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Operaciones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70941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Qué trabajo y cuándo</a:t>
            </a:r>
          </a:p>
        </p:txBody>
      </p:sp>
      <p:sp>
        <p:nvSpPr>
          <p:cNvPr id="29" name="Oval 28"/>
          <p:cNvSpPr/>
          <p:nvPr/>
        </p:nvSpPr>
        <p:spPr>
          <a:xfrm>
            <a:off x="3239947" y="412419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16403" y="440766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Asignaciones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6403" y="470941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Quién va a cada operación</a:t>
            </a:r>
          </a:p>
        </p:txBody>
      </p:sp>
      <p:sp>
        <p:nvSpPr>
          <p:cNvPr id="32" name="Oval 31"/>
          <p:cNvSpPr/>
          <p:nvPr/>
        </p:nvSpPr>
        <p:spPr>
          <a:xfrm>
            <a:off x="6013551" y="412419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90007" y="440766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Jornadas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0007" y="470941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Lo esperado de cada persona ese día</a:t>
            </a:r>
          </a:p>
        </p:txBody>
      </p:sp>
      <p:sp>
        <p:nvSpPr>
          <p:cNvPr id="35" name="Oval 34"/>
          <p:cNvSpPr/>
          <p:nvPr/>
        </p:nvSpPr>
        <p:spPr>
          <a:xfrm>
            <a:off x="8787155" y="4124198"/>
            <a:ext cx="164592" cy="164592"/>
          </a:xfrm>
          <a:prstGeom prst="ellipse">
            <a:avLst/>
          </a:prstGeom>
          <a:solidFill>
            <a:srgbClr val="ED7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611" y="440766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ED742E"/>
                </a:solidFill>
                <a:latin typeface="Arial"/>
              </a:rPr>
              <a:t>Asistencia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611" y="470941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Llegada y salida por WhatsApp</a:t>
            </a:r>
          </a:p>
        </p:txBody>
      </p:sp>
      <p:sp>
        <p:nvSpPr>
          <p:cNvPr id="38" name="Oval 37"/>
          <p:cNvSpPr/>
          <p:nvPr/>
        </p:nvSpPr>
        <p:spPr>
          <a:xfrm>
            <a:off x="11560759" y="412419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3671" y="440766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Inicio y reportes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3671" y="470941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Lo que lee quien administra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Primero se definen las reglas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Primero definimos las reglas con las que después se van a evaluar todas las operaciones.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CONFIGURACIÓN INICIAL</a:t>
            </a:r>
          </a:p>
        </p:txBody>
      </p:sp>
      <p:pic>
        <p:nvPicPr>
          <p:cNvPr id="7" name="Picture 6" descr="c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894"/>
            <a:ext cx="6035040" cy="1861874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48640" y="373664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F"/>
                </a:solidFill>
                <a:latin typeface="Arial"/>
              </a:rPr>
              <a:t>Configuración de la empresa · valores de Dinamic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79" y="1646174"/>
            <a:ext cx="460217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A939F"/>
                </a:solidFill>
                <a:latin typeface="Arial"/>
              </a:rPr>
              <a:t>TAMBIÉN SE DEFINE ACÁ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79" y="2011934"/>
            <a:ext cx="460217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040879" y="2103374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Horario laboral semanal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79" y="2441702"/>
            <a:ext cx="460217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040879" y="2533142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Salida con ubicación obligatoria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79" y="2871470"/>
            <a:ext cx="460217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040879" y="2962910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Correcciones manuales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79" y="3301238"/>
            <a:ext cx="460217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040879" y="3392678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Recordatorio de confirmación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79" y="3731006"/>
            <a:ext cx="460217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040879" y="3822446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Alertas a responsables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79" y="4160774"/>
            <a:ext cx="460217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040879" y="4252214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Reporte diario por email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79" y="4590542"/>
            <a:ext cx="460217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7040879" y="4681982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Plantillas de turnos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0879" y="5020310"/>
            <a:ext cx="460217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040879" y="5111750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Categorías y zonas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Quién usa el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Los usuarios del panel administran y controlan. Los colaboradores no entran al panel: usan WhatsApp.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CONFIGURACIÓN INICIAL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894"/>
            <a:ext cx="3429000" cy="54864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773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B2430"/>
                </a:solidFill>
                <a:latin typeface="Arial"/>
              </a:rPr>
              <a:t>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694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573"/>
                </a:solidFill>
                <a:latin typeface="Arial"/>
              </a:rPr>
              <a:t>Configura la empresa, carga la estructura y gestiona usuarios.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1" y="1691894"/>
            <a:ext cx="3429000" cy="54864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1874773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B2430"/>
                </a:solidFill>
                <a:latin typeface="Arial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1" y="2377694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573"/>
                </a:solidFill>
                <a:latin typeface="Arial"/>
              </a:rPr>
              <a:t>Controla la operación del día, revisa y carga asistencias.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3" y="1691894"/>
            <a:ext cx="3429000" cy="54864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874773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B2430"/>
                </a:solidFill>
                <a:latin typeface="Arial"/>
              </a:rPr>
              <a:t>RR.HH.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377694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573"/>
                </a:solidFill>
                <a:latin typeface="Arial"/>
              </a:rPr>
              <a:t>Gestiona colaboradores y ausencias.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574"/>
            <a:ext cx="11094415" cy="1417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959606"/>
            <a:ext cx="49985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Usuario del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389374"/>
            <a:ext cx="4998567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Entra con email y contraseña. Tiene un rol.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959606"/>
            <a:ext cx="49985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D742E"/>
                </a:solidFill>
                <a:latin typeface="Arial"/>
              </a:rPr>
              <a:t>Colaborador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389374"/>
            <a:ext cx="4998567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No tiene usuario. Interactúa desde su teléfono, por WhatsApp.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805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39F"/>
                </a:solidFill>
                <a:latin typeface="Arial"/>
              </a:rPr>
              <a:t>Existen además los roles Operador y Solo lectura, para consulta.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Clientes: para quién se trabaja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Un cliente agrupa los servicios que se realizan para esa cuenta. No tiene dirección ni mapa: no es donde se ficha.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ESTRUCTURA OPERATIVA</a:t>
            </a:r>
          </a:p>
        </p:txBody>
      </p:sp>
      <p:pic>
        <p:nvPicPr>
          <p:cNvPr id="7" name="Picture 6" descr="c-c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773"/>
            <a:ext cx="5303520" cy="2513707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7132320" y="192049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B2430"/>
                </a:solidFill>
                <a:latin typeface="Arial"/>
              </a:rPr>
              <a:t>Hotel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33197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939F"/>
                </a:solidFill>
                <a:latin typeface="Arial"/>
              </a:rPr>
              <a:t>Cliente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69480" y="2697734"/>
            <a:ext cx="0" cy="1371600"/>
          </a:xfrm>
          <a:prstGeom prst="line">
            <a:avLst/>
          </a:prstGeom>
          <a:ln w="15875">
            <a:solidFill>
              <a:srgbClr val="D9DEE5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269480" y="3154934"/>
            <a:ext cx="365760" cy="0"/>
          </a:xfrm>
          <a:prstGeom prst="line">
            <a:avLst/>
          </a:prstGeom>
          <a:ln w="15875">
            <a:solidFill>
              <a:srgbClr val="D9DEE5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772400" y="295376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Hotel Central — Palermo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209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39F"/>
                </a:solidFill>
                <a:latin typeface="Arial"/>
              </a:rPr>
              <a:t>Servicio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80" y="4069334"/>
            <a:ext cx="365760" cy="0"/>
          </a:xfrm>
          <a:prstGeom prst="line">
            <a:avLst/>
          </a:prstGeom>
          <a:ln w="15875">
            <a:solidFill>
              <a:srgbClr val="D9DEE5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772400" y="386816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Hotel Central — Centro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20649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39F"/>
                </a:solidFill>
                <a:latin typeface="Arial"/>
              </a:rPr>
              <a:t>Servicio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Servicios: el lugar físico donde se trabaja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Dirección, coordenadas y radio. Cada fichaje se valida contra el punto del servicio.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ESTRUCTURA OPERATIVA</a:t>
            </a:r>
          </a:p>
        </p:txBody>
      </p:sp>
      <p:pic>
        <p:nvPicPr>
          <p:cNvPr id="7" name="Picture 6" descr="s03-lug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614"/>
            <a:ext cx="6675120" cy="2265665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617092" y="3686415"/>
            <a:ext cx="738330" cy="3534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77599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También guarda el cliente, la localidad y el formato del lugar.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1966214"/>
            <a:ext cx="3017520" cy="3017520"/>
          </a:xfrm>
          <a:prstGeom prst="ellipse">
            <a:avLst/>
          </a:prstGeom>
          <a:solidFill>
            <a:srgbClr val="F1F7F2"/>
          </a:solidFill>
          <a:ln w="19050">
            <a:solidFill>
              <a:srgbClr val="4282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82912" y="3410966"/>
            <a:ext cx="128016" cy="128016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646920" y="3474974"/>
            <a:ext cx="1508760" cy="0"/>
          </a:xfrm>
          <a:prstGeom prst="line">
            <a:avLst/>
          </a:prstGeom>
          <a:ln w="12700">
            <a:solidFill>
              <a:srgbClr val="42824A"/>
            </a:solidFill>
            <a:prstDash val="dash"/>
          </a:ln>
        </p:spPr>
      </p:cxnSp>
      <p:sp>
        <p:nvSpPr>
          <p:cNvPr id="13" name="TextBox 12"/>
          <p:cNvSpPr txBox="1"/>
          <p:nvPr/>
        </p:nvSpPr>
        <p:spPr>
          <a:xfrm>
            <a:off x="9784080" y="318236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2824A"/>
                </a:solidFill>
                <a:latin typeface="Arial"/>
              </a:rPr>
              <a:t>150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58470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1B2430"/>
                </a:solidFill>
                <a:latin typeface="Arial"/>
              </a:rPr>
              <a:t>Punto del servicio</a:t>
            </a:r>
          </a:p>
        </p:txBody>
      </p:sp>
      <p:sp>
        <p:nvSpPr>
          <p:cNvPr id="15" name="Oval 14"/>
          <p:cNvSpPr/>
          <p:nvPr/>
        </p:nvSpPr>
        <p:spPr>
          <a:xfrm>
            <a:off x="9439972" y="3268026"/>
            <a:ext cx="109728" cy="109728"/>
          </a:xfrm>
          <a:prstGeom prst="ellipse">
            <a:avLst/>
          </a:prstGeom>
          <a:solidFill>
            <a:srgbClr val="ED7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3196" y="299370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ED742E"/>
                </a:solidFill>
                <a:latin typeface="Arial"/>
              </a:rPr>
              <a:t>Lucía · 21.6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09346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A939F"/>
                </a:solidFill>
                <a:latin typeface="Arial"/>
              </a:rPr>
              <a:t>Esquema a escala del radio de Hotel Central — Palermo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Colaboradores: quién trabaja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El teléfono es la identidad que utiliza el bot de WhatsApp. No necesita instalar otra app ni tener usuario en el panel.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ESTRUCTURA OPERATIVA</a:t>
            </a:r>
          </a:p>
        </p:txBody>
      </p:sp>
      <p:pic>
        <p:nvPicPr>
          <p:cNvPr id="7" name="Picture 6" descr="s05-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920494"/>
            <a:ext cx="9509760" cy="3021483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9261257" y="3573201"/>
            <a:ext cx="1241258" cy="41650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16576" y="3006273"/>
            <a:ext cx="1985938" cy="28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742E"/>
            </a:solidFill>
          </a:ln>
        </p:spPr>
        <p:txBody>
          <a:bodyPr rtlCol="0" anchor="ctr" lIns="18288" rIns="18288" tIns="18288" bIns="18288"/>
          <a:lstStyle/>
          <a:p>
            <a:pPr algn="ctr"/>
            <a:r>
              <a:rPr sz="1200" b="1">
                <a:solidFill>
                  <a:srgbClr val="ED742E"/>
                </a:solidFill>
                <a:latin typeface="Arial"/>
              </a:rPr>
              <a:t>Identidad en WhatsApp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45315" y="3295833"/>
            <a:ext cx="0" cy="277368"/>
          </a:xfrm>
          <a:prstGeom prst="line">
            <a:avLst/>
          </a:prstGeom>
          <a:ln w="15875">
            <a:solidFill>
              <a:srgbClr val="ED742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340967" y="5170577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Además: tipo fijo o eventual, categoría, zona, clientes en los que trabaja y grupos.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Grupos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Si el mismo equipo trabaja junto con frecuencia, se asigna de una vez en lugar de persona por persona.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ESTRUCTURA OPERATIVA</a:t>
            </a:r>
          </a:p>
        </p:txBody>
      </p:sp>
      <p:pic>
        <p:nvPicPr>
          <p:cNvPr id="7" name="Picture 6" descr="c-equ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737614"/>
            <a:ext cx="8935941" cy="4434586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Operaciones: qué trabajo se hace y cuándo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Servicio = dónde. Operación = qué trabajo se hace ahí y cuándo.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CREAR EL TRABAJO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737614"/>
            <a:ext cx="5669280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1847342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Puntual</a:t>
            </a:r>
            <a:r>
              <a:rPr sz="1700" b="0">
                <a:solidFill>
                  <a:srgbClr val="8A939F"/>
                </a:solidFill>
                <a:latin typeface="Arial"/>
              </a:rPr>
              <a:t>  o  </a:t>
            </a:r>
            <a:r>
              <a:rPr sz="1700" b="1">
                <a:solidFill>
                  <a:srgbClr val="1B2430"/>
                </a:solidFill>
                <a:latin typeface="Arial"/>
              </a:rPr>
              <a:t>Recurrente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53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Una fecha, o un horario semanal con vigencia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725166"/>
            <a:ext cx="5669280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2834894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Un horario</a:t>
            </a:r>
            <a:r>
              <a:rPr sz="1700" b="0">
                <a:solidFill>
                  <a:srgbClr val="8A939F"/>
                </a:solidFill>
                <a:latin typeface="Arial"/>
              </a:rPr>
              <a:t>  o  </a:t>
            </a:r>
            <a:r>
              <a:rPr sz="1700" b="1">
                <a:solidFill>
                  <a:srgbClr val="1B2430"/>
                </a:solidFill>
                <a:latin typeface="Arial"/>
              </a:rPr>
              <a:t>Varios turnos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2808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Mañana, tarde, noche en la misma operación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712717"/>
            <a:ext cx="5669280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3822446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Horario de la empresa</a:t>
            </a:r>
            <a:r>
              <a:rPr sz="1700" b="0">
                <a:solidFill>
                  <a:srgbClr val="8A939F"/>
                </a:solidFill>
                <a:latin typeface="Arial"/>
              </a:rPr>
              <a:t>  o  </a:t>
            </a:r>
            <a:r>
              <a:rPr sz="1700" b="1">
                <a:solidFill>
                  <a:srgbClr val="1B2430"/>
                </a:solidFill>
                <a:latin typeface="Arial"/>
              </a:rPr>
              <a:t>Horario propio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15637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En las recurrentes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700270"/>
            <a:ext cx="5669280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4809998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Tolerancias heredadas</a:t>
            </a:r>
            <a:r>
              <a:rPr sz="1700" b="0">
                <a:solidFill>
                  <a:srgbClr val="8A939F"/>
                </a:solidFill>
                <a:latin typeface="Arial"/>
              </a:rPr>
              <a:t>  o  </a:t>
            </a:r>
            <a:r>
              <a:rPr sz="1700" b="1">
                <a:solidFill>
                  <a:srgbClr val="1B2430"/>
                </a:solidFill>
                <a:latin typeface="Arial"/>
              </a:rPr>
              <a:t>Tolerancias propias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0319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Se toman de la empresa o se definen para esa operación</a:t>
            </a:r>
          </a:p>
        </p:txBody>
      </p:sp>
      <p:pic>
        <p:nvPicPr>
          <p:cNvPr id="19" name="Picture 18" descr="c-op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1894"/>
            <a:ext cx="5232370" cy="4114546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6858000" y="5879592"/>
            <a:ext cx="523237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F"/>
                </a:solidFill>
                <a:latin typeface="Arial"/>
              </a:rPr>
              <a:t>Nueva operación sobre Hotel Central — Palermo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Asignaciones: quién va a cada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Una operación sin personas todavía no genera asistencia. Cada persona asignada tiene su jornada.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CREAR EL TRABAJO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933"/>
            <a:ext cx="2834640" cy="100584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374"/>
            <a:ext cx="256032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Operación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Hotel Central — Palermo · 25/10, 17:00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83280" y="1966214"/>
            <a:ext cx="914399" cy="548640"/>
          </a:xfrm>
          <a:prstGeom prst="line">
            <a:avLst/>
          </a:prstGeom>
          <a:ln w="12700">
            <a:solidFill>
              <a:srgbClr val="8A939F"/>
            </a:solidFill>
          </a:ln>
        </p:spPr>
      </p:cxnSp>
      <p:sp>
        <p:nvSpPr>
          <p:cNvPr id="10" name="Rounded Rectangle 9"/>
          <p:cNvSpPr/>
          <p:nvPr/>
        </p:nvSpPr>
        <p:spPr>
          <a:xfrm>
            <a:off x="4297679" y="1737614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737614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Lucía Fernández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0" y="1966214"/>
            <a:ext cx="548639" cy="0"/>
          </a:xfrm>
          <a:prstGeom prst="line">
            <a:avLst/>
          </a:prstGeom>
          <a:ln w="12700">
            <a:solidFill>
              <a:srgbClr val="8A939F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7269479" y="1737614"/>
            <a:ext cx="1920240" cy="457200"/>
          </a:xfrm>
          <a:prstGeom prst="roundRect">
            <a:avLst>
              <a:gd name="adj" fmla="val 30000"/>
            </a:avLst>
          </a:prstGeom>
          <a:solidFill>
            <a:srgbClr val="F5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9" y="1737614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B2430"/>
                </a:solidFill>
                <a:latin typeface="Arial"/>
              </a:rPr>
              <a:t>Jornada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2514854"/>
            <a:ext cx="914399" cy="0"/>
          </a:xfrm>
          <a:prstGeom prst="line">
            <a:avLst/>
          </a:prstGeom>
          <a:ln w="12700">
            <a:solidFill>
              <a:srgbClr val="8A939F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4297679" y="2286254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286254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Mateo Álvarez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" y="2514854"/>
            <a:ext cx="548639" cy="0"/>
          </a:xfrm>
          <a:prstGeom prst="line">
            <a:avLst/>
          </a:prstGeom>
          <a:ln w="12700">
            <a:solidFill>
              <a:srgbClr val="8A939F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7269479" y="2286254"/>
            <a:ext cx="1920240" cy="457200"/>
          </a:xfrm>
          <a:prstGeom prst="roundRect">
            <a:avLst>
              <a:gd name="adj" fmla="val 30000"/>
            </a:avLst>
          </a:prstGeom>
          <a:solidFill>
            <a:srgbClr val="F5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2286254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B2430"/>
                </a:solidFill>
                <a:latin typeface="Arial"/>
              </a:rPr>
              <a:t>Jornada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2514854"/>
            <a:ext cx="914399" cy="548639"/>
          </a:xfrm>
          <a:prstGeom prst="line">
            <a:avLst/>
          </a:prstGeom>
          <a:ln w="12700">
            <a:solidFill>
              <a:srgbClr val="8A939F"/>
            </a:solidFill>
          </a:ln>
        </p:spPr>
      </p:cxnSp>
      <p:sp>
        <p:nvSpPr>
          <p:cNvPr id="22" name="Rounded Rectangle 21"/>
          <p:cNvSpPr/>
          <p:nvPr/>
        </p:nvSpPr>
        <p:spPr>
          <a:xfrm>
            <a:off x="4297679" y="2834893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2834893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Sofía Romero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75120" y="3063493"/>
            <a:ext cx="548639" cy="0"/>
          </a:xfrm>
          <a:prstGeom prst="line">
            <a:avLst/>
          </a:prstGeom>
          <a:ln w="12700">
            <a:solidFill>
              <a:srgbClr val="8A939F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7269479" y="2834893"/>
            <a:ext cx="1920240" cy="457200"/>
          </a:xfrm>
          <a:prstGeom prst="roundRect">
            <a:avLst>
              <a:gd name="adj" fmla="val 30000"/>
            </a:avLst>
          </a:prstGeom>
          <a:solidFill>
            <a:srgbClr val="F5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79" y="2834893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B2430"/>
                </a:solidFill>
                <a:latin typeface="Arial"/>
              </a:rPr>
              <a:t>Jornada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783334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5B6573"/>
                </a:solidFill>
                <a:latin typeface="Arial"/>
              </a:rPr>
              <a:t>Se asigna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Por persona o en lote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Con un grupo de trabajo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Desde recomendaciones según historial</a:t>
            </a:r>
          </a:p>
        </p:txBody>
      </p:sp>
      <p:pic>
        <p:nvPicPr>
          <p:cNvPr id="28" name="Picture 27" descr="s06-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3574"/>
            <a:ext cx="11094415" cy="1884030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29" name="TextBox 28"/>
          <p:cNvSpPr txBox="1"/>
          <p:nvPr/>
        </p:nvSpPr>
        <p:spPr>
          <a:xfrm>
            <a:off x="548640" y="567904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39F"/>
                </a:solidFill>
                <a:latin typeface="Arial"/>
              </a:rPr>
              <a:t>La operación muestra una fila por persona asignada (3 de 6). Asignar no envía un WhatsApp en ese momento.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Antes del turno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Desde el mismo chat, el colaborador consulta sus turnos, confirma que va o avisa que no puede.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LO QUE VIVE EL COLABORADOR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886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WhatsApp de Diego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494"/>
            <a:ext cx="2788920" cy="4343146"/>
          </a:xfrm>
          <a:prstGeom prst="roundRect">
            <a:avLst>
              <a:gd name="adj" fmla="val 9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5" y="2002790"/>
            <a:ext cx="2624327" cy="4178554"/>
          </a:xfrm>
          <a:prstGeom prst="roundRect">
            <a:avLst>
              <a:gd name="adj" fmla="val 7000"/>
            </a:avLst>
          </a:prstGeom>
          <a:solidFill>
            <a:srgbClr val="EEEF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5" y="2203958"/>
            <a:ext cx="2624327" cy="182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5" y="2002790"/>
            <a:ext cx="262432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4499" y="2066797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22375" y="2386838"/>
            <a:ext cx="2624328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2780489" y="3151505"/>
            <a:ext cx="474774" cy="336168"/>
          </a:xfrm>
          <a:prstGeom prst="roundRect">
            <a:avLst>
              <a:gd name="adj" fmla="val 30000"/>
            </a:avLst>
          </a:prstGeom>
          <a:solidFill>
            <a:srgbClr val="DCEF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3641" y="3197225"/>
            <a:ext cx="365046" cy="226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hola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0489" y="3329622"/>
            <a:ext cx="401622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18:11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" y="3551682"/>
            <a:ext cx="2151948" cy="250164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7" y="3597402"/>
            <a:ext cx="2042220" cy="23919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Hola 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¿Qué querés hacer?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1. Marcar llegada — compartí tu ubicación (o escribí "Llegué")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2. Marcar salida — compartí tu ubicación (o escribí "Me voy")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3. Avisar ausencia o vacaciones — escribí "Pedir ausencia"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4. Consultar jornada de hoy — escribí "Mi jornada" o "Hoy"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5. Ver próximos turnos — escribí "Mis turnos" o "Agenda"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6. Confirmar asistencia — escribí "Confirmo asistencia"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También podés escribir "Ayuda", "Cancelar" o el número de la opción.</a:t>
            </a:r>
          </a:p>
        </p:txBody>
      </p:sp>
      <p:pic>
        <p:nvPicPr>
          <p:cNvPr id="19" name="Picture 18" descr="emoji-1f4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80" y="3608374"/>
            <a:ext cx="113347" cy="1133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3815" y="5895276"/>
            <a:ext cx="2078796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18:11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627886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WhatsApp de Pablo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1920494"/>
            <a:ext cx="2788920" cy="4343146"/>
          </a:xfrm>
          <a:prstGeom prst="roundRect">
            <a:avLst>
              <a:gd name="adj" fmla="val 9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68496" y="2002790"/>
            <a:ext cx="2624327" cy="4178554"/>
          </a:xfrm>
          <a:prstGeom prst="roundRect">
            <a:avLst>
              <a:gd name="adj" fmla="val 7000"/>
            </a:avLst>
          </a:prstGeom>
          <a:solidFill>
            <a:srgbClr val="EEEF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8496" y="2203958"/>
            <a:ext cx="2624327" cy="182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68496" y="2002790"/>
            <a:ext cx="262432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60620" y="2066797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968496" y="2386838"/>
            <a:ext cx="2624327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28" name="Rounded Rectangle 27"/>
          <p:cNvSpPr/>
          <p:nvPr/>
        </p:nvSpPr>
        <p:spPr>
          <a:xfrm>
            <a:off x="5370542" y="4934839"/>
            <a:ext cx="1130841" cy="336168"/>
          </a:xfrm>
          <a:prstGeom prst="roundRect">
            <a:avLst>
              <a:gd name="adj" fmla="val 30000"/>
            </a:avLst>
          </a:prstGeom>
          <a:solidFill>
            <a:srgbClr val="DCEF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3694" y="4980559"/>
            <a:ext cx="1021113" cy="226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Confirmo asistencia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0542" y="5112956"/>
            <a:ext cx="1057689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16:26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59935" y="5335016"/>
            <a:ext cx="2086864" cy="7183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33087" y="5380736"/>
            <a:ext cx="1977136" cy="60858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Confirmamos tu asistencia para: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Hotel Central — Palermo - Av. Santa Fe 3253 - CABA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25/10/2026 — 17:00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5895276"/>
            <a:ext cx="2013712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16:26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199" y="2194814"/>
            <a:ext cx="432785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7315199" y="2304542"/>
            <a:ext cx="43278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Confirmar asistencia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199" y="2670302"/>
            <a:ext cx="432785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La jornada queda confirmada.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5199" y="3246374"/>
            <a:ext cx="432785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7315199" y="3356102"/>
            <a:ext cx="43278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Ver próximos turnos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199" y="3721861"/>
            <a:ext cx="432785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“Mis turnos” o “Agenda”.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199" y="4297934"/>
            <a:ext cx="4327856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7315199" y="4407662"/>
            <a:ext cx="43278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Avisar que no 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199" y="4773422"/>
            <a:ext cx="432785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Desde “Pedir ausencia”: no voy a una jornada.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199" y="5440934"/>
            <a:ext cx="43278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39F"/>
                </a:solidFill>
                <a:latin typeface="Arial"/>
              </a:rPr>
              <a:t>El recordatorio para confirmar se configura en la empresa (24 h antes en la demo).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“Llegué” → ubicación → asistencia registrada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El sistema cruza horario y distancia con el servicio asignado.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LO QUE VIVE EL COLABORADOR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82165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WhatsApp de Lucía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74773"/>
            <a:ext cx="2971800" cy="4388866"/>
          </a:xfrm>
          <a:prstGeom prst="roundRect">
            <a:avLst>
              <a:gd name="adj" fmla="val 9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6696" y="1957069"/>
            <a:ext cx="2807208" cy="4224274"/>
          </a:xfrm>
          <a:prstGeom prst="roundRect">
            <a:avLst>
              <a:gd name="adj" fmla="val 7000"/>
            </a:avLst>
          </a:prstGeom>
          <a:solidFill>
            <a:srgbClr val="EEEF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696" y="2158238"/>
            <a:ext cx="2807208" cy="182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957069"/>
            <a:ext cx="28072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80260" y="2021077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96696" y="2341117"/>
            <a:ext cx="2807208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3205405" y="2733294"/>
            <a:ext cx="507058" cy="336168"/>
          </a:xfrm>
          <a:prstGeom prst="roundRect">
            <a:avLst>
              <a:gd name="adj" fmla="val 30000"/>
            </a:avLst>
          </a:prstGeom>
          <a:solidFill>
            <a:srgbClr val="DCEF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8557" y="2779014"/>
            <a:ext cx="397330" cy="226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Llegué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5405" y="2911411"/>
            <a:ext cx="433906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16:31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8136" y="3133471"/>
            <a:ext cx="2277042" cy="9730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3179191"/>
            <a:ext cx="2167314" cy="8633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Encontramos tu jornada en Hotel Central — Palermo - Av. Santa Fe 3253 - CABA, programada para las 17:00.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Compartí tu ubicación actual desde WhatsApp para registrar tu llegada.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3948493"/>
            <a:ext cx="2203890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16:31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5231" y="4170553"/>
            <a:ext cx="1367232" cy="336168"/>
          </a:xfrm>
          <a:prstGeom prst="roundRect">
            <a:avLst>
              <a:gd name="adj" fmla="val 30000"/>
            </a:avLst>
          </a:prstGeom>
          <a:solidFill>
            <a:srgbClr val="DCEF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8383" y="4248277"/>
            <a:ext cx="91440" cy="91440"/>
          </a:xfrm>
          <a:prstGeom prst="ellipse">
            <a:avLst/>
          </a:prstGeom>
          <a:solidFill>
            <a:srgbClr val="AC33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5543" y="4216273"/>
            <a:ext cx="1367232" cy="1273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Ubicación compartida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5231" y="4348670"/>
            <a:ext cx="1294080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16:31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8136" y="4570730"/>
            <a:ext cx="2175156" cy="14825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4616450"/>
            <a:ext cx="2065428" cy="137286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Tu llegada fue registrada correctamente.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Servicio: Hotel Central — Palermo - Av. Santa Fe 3253 - CABA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Llegada: 16:31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Distancia: 22 m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Cuando finalices el trabajo, compartí nuevamente tu ubicación para registrar tu salida.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5895276"/>
            <a:ext cx="2102004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16:31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2377693"/>
            <a:ext cx="5928055" cy="241051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t-lucia-s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56" y="2597150"/>
            <a:ext cx="3482897" cy="241309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5934456" y="2929899"/>
            <a:ext cx="5489143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pic>
        <p:nvPicPr>
          <p:cNvPr id="30" name="Picture 29" descr="t-lucia-lleg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3021339"/>
            <a:ext cx="2630271" cy="406204"/>
          </a:xfrm>
          <a:prstGeom prst="rect">
            <a:avLst/>
          </a:prstGeom>
        </p:spPr>
      </p:pic>
      <p:pic>
        <p:nvPicPr>
          <p:cNvPr id="31" name="Picture 30" descr="t-lucia-estado-llega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3327" y="3021339"/>
            <a:ext cx="2626249" cy="406204"/>
          </a:xfrm>
          <a:prstGeom prst="rect">
            <a:avLst/>
          </a:prstGeom>
        </p:spPr>
      </p:pic>
      <p:pic>
        <p:nvPicPr>
          <p:cNvPr id="32" name="Picture 31" descr="t-lucia-origen-llega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456" y="3585912"/>
            <a:ext cx="2626249" cy="406204"/>
          </a:xfrm>
          <a:prstGeom prst="rect">
            <a:avLst/>
          </a:prstGeom>
        </p:spPr>
      </p:pic>
      <p:pic>
        <p:nvPicPr>
          <p:cNvPr id="33" name="Picture 32" descr="t-lucia-distancia-llega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327" y="3585912"/>
            <a:ext cx="2626249" cy="390116"/>
          </a:xfrm>
          <a:prstGeom prst="rect">
            <a:avLst/>
          </a:prstGeom>
        </p:spPr>
      </p:pic>
      <p:pic>
        <p:nvPicPr>
          <p:cNvPr id="34" name="Picture 33" descr="t-lucia-radi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456" y="4150486"/>
            <a:ext cx="2626249" cy="390116"/>
          </a:xfrm>
          <a:prstGeom prst="rect">
            <a:avLst/>
          </a:prstGeom>
        </p:spPr>
      </p:pic>
      <p:pic>
        <p:nvPicPr>
          <p:cNvPr id="35" name="Picture 34" descr="t-lucia-situac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3327" y="4150486"/>
            <a:ext cx="2626249" cy="4182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0" y="2057654"/>
            <a:ext cx="592805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Panel · detalle de la asistencia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023360" y="3582952"/>
            <a:ext cx="1554480" cy="0"/>
          </a:xfrm>
          <a:prstGeom prst="line">
            <a:avLst/>
          </a:prstGeom>
          <a:ln w="22225">
            <a:solidFill>
              <a:srgbClr val="ED742E"/>
            </a:solidFill>
            <a:tailEnd type="triangle" w="med" len="med"/>
          </a:ln>
        </p:spPr>
      </p:cxnSp>
      <p:sp>
        <p:nvSpPr>
          <p:cNvPr id="38" name="TextBox 37"/>
          <p:cNvSpPr txBox="1"/>
          <p:nvPr/>
        </p:nvSpPr>
        <p:spPr>
          <a:xfrm>
            <a:off x="3977639" y="319890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ED742E"/>
                </a:solidFill>
                <a:latin typeface="Arial"/>
              </a:rPr>
              <a:t>Mismo evento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Cómo se valida un fichaje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Horario: tolerancias de la empresa o de la operación. Lugar: radio del servicio y margen de revisión.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LO QUE VIVE EL COLABORADOR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894"/>
            <a:ext cx="3429000" cy="54864"/>
          </a:xfrm>
          <a:prstGeom prst="rect">
            <a:avLst/>
          </a:prstGeom>
          <a:solidFill>
            <a:srgbClr val="428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774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42824A"/>
                </a:solidFill>
                <a:latin typeface="Arial"/>
              </a:rPr>
              <a:t>Válida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0262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Dentro del radio: la llegada vale.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9214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t-lucia-estado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2094"/>
            <a:ext cx="1735679" cy="469102"/>
          </a:xfrm>
          <a:prstGeom prst="rect">
            <a:avLst/>
          </a:prstGeom>
        </p:spPr>
      </p:pic>
      <p:pic>
        <p:nvPicPr>
          <p:cNvPr id="12" name="Picture 11" descr="t-lucia-distancia-lleg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44076"/>
            <a:ext cx="3063240" cy="4550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81914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Lucía · Hotel Central — Palermo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1691894"/>
            <a:ext cx="3429000" cy="54864"/>
          </a:xfrm>
          <a:prstGeom prst="rect">
            <a:avLst/>
          </a:prstGeom>
          <a:solidFill>
            <a:srgbClr val="A95E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1" y="1874774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A95E2A"/>
                </a:solidFill>
                <a:latin typeface="Arial"/>
              </a:rPr>
              <a:t>Para revisión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350262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Apenas fuera del radio: un responsable la revisa.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1" y="3109214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t-julian-pend-estados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3292094"/>
            <a:ext cx="1909247" cy="469102"/>
          </a:xfrm>
          <a:prstGeom prst="rect">
            <a:avLst/>
          </a:prstGeom>
        </p:spPr>
      </p:pic>
      <p:pic>
        <p:nvPicPr>
          <p:cNvPr id="19" name="Picture 18" descr="t-julian-pend-distancia-llega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3944076"/>
            <a:ext cx="3063240" cy="45502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70831" y="481914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Julián · Clínica Norte — Belgrano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1691894"/>
            <a:ext cx="3429000" cy="54864"/>
          </a:xfrm>
          <a:prstGeom prst="rect">
            <a:avLst/>
          </a:prstGeom>
          <a:solidFill>
            <a:srgbClr val="AC33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1874774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AC332B"/>
                </a:solidFill>
                <a:latin typeface="Arial"/>
              </a:rPr>
              <a:t>Rechazada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2350262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2430"/>
                </a:solidFill>
                <a:latin typeface="Arial"/>
              </a:rPr>
              <a:t>Lejos del lugar: no se valida y el intento queda registrado.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3" y="3109214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3109214"/>
            <a:ext cx="2971800" cy="1600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La ubicación no coincide con el servicio asignado.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Lo dudoso queda para revisión; no desaparece. Llegar tarde dentro de la tolerancia sigue siendo válido, marcado como tarde.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“Me voy”: la jornada también se cierra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Lucía marca la salida desde el mismo WhatsApp. Mateo llegó y todavía no la marcó.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LO QUE VIVE EL COLABORADOR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82165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WhatsApp de Lucía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74773"/>
            <a:ext cx="2971800" cy="4388866"/>
          </a:xfrm>
          <a:prstGeom prst="roundRect">
            <a:avLst>
              <a:gd name="adj" fmla="val 9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6696" y="1957069"/>
            <a:ext cx="2807208" cy="4224274"/>
          </a:xfrm>
          <a:prstGeom prst="roundRect">
            <a:avLst>
              <a:gd name="adj" fmla="val 7000"/>
            </a:avLst>
          </a:prstGeom>
          <a:solidFill>
            <a:srgbClr val="EEEF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696" y="2158238"/>
            <a:ext cx="2807208" cy="182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957069"/>
            <a:ext cx="28072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80260" y="2021077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96696" y="2341117"/>
            <a:ext cx="2807208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3181639" y="3115437"/>
            <a:ext cx="530824" cy="336168"/>
          </a:xfrm>
          <a:prstGeom prst="roundRect">
            <a:avLst>
              <a:gd name="adj" fmla="val 30000"/>
            </a:avLst>
          </a:prstGeom>
          <a:solidFill>
            <a:srgbClr val="DCEF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4791" y="3161157"/>
            <a:ext cx="421096" cy="226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Me voy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1639" y="3293554"/>
            <a:ext cx="457672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17:46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8136" y="3515614"/>
            <a:ext cx="2162978" cy="7183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3561334"/>
            <a:ext cx="2053250" cy="60858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Perfecto. Para registrar tu salida de Hotel Central — Palermo - Av. Santa Fe 3253 - CABA (16:31), compartime tu ubicación actual.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4075874"/>
            <a:ext cx="2089826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17:46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5231" y="4297934"/>
            <a:ext cx="1367232" cy="336168"/>
          </a:xfrm>
          <a:prstGeom prst="roundRect">
            <a:avLst>
              <a:gd name="adj" fmla="val 30000"/>
            </a:avLst>
          </a:prstGeom>
          <a:solidFill>
            <a:srgbClr val="DCEF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8383" y="4375658"/>
            <a:ext cx="91440" cy="91440"/>
          </a:xfrm>
          <a:prstGeom prst="ellipse">
            <a:avLst/>
          </a:prstGeom>
          <a:solidFill>
            <a:srgbClr val="AC33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5543" y="4343654"/>
            <a:ext cx="1367232" cy="1273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Ubicación compartida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5231" y="4476051"/>
            <a:ext cx="1294080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17:46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8136" y="4698111"/>
            <a:ext cx="2062728" cy="135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4743831"/>
            <a:ext cx="1953000" cy="124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Tu salida fue registrada correctamente.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Servicio: Hotel Central — Palermo - Av. Santa Fe 3253 - CABA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Llegada: 16:31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Salida: 17:46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Distancia: 14 m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Estado: Salida con tiempo extra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Tiempo extra: 1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5895276"/>
            <a:ext cx="1989576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17:46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1874773"/>
            <a:ext cx="7071055" cy="20115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t-lucia-s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094230"/>
            <a:ext cx="4239654" cy="293740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4791456" y="2479410"/>
            <a:ext cx="6632143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pic>
        <p:nvPicPr>
          <p:cNvPr id="30" name="Picture 29" descr="t-lucia-sal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570850"/>
            <a:ext cx="3196875" cy="474880"/>
          </a:xfrm>
          <a:prstGeom prst="rect">
            <a:avLst/>
          </a:prstGeom>
        </p:spPr>
      </p:pic>
      <p:pic>
        <p:nvPicPr>
          <p:cNvPr id="31" name="Picture 30" descr="t-lucia-estado-sali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827" y="2570850"/>
            <a:ext cx="3201771" cy="474880"/>
          </a:xfrm>
          <a:prstGeom prst="rect">
            <a:avLst/>
          </a:prstGeom>
        </p:spPr>
      </p:pic>
      <p:pic>
        <p:nvPicPr>
          <p:cNvPr id="32" name="Picture 31" descr="t-lucia-origen-sali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3192035"/>
            <a:ext cx="3196875" cy="474880"/>
          </a:xfrm>
          <a:prstGeom prst="rect">
            <a:avLst/>
          </a:prstGeom>
        </p:spPr>
      </p:pic>
      <p:pic>
        <p:nvPicPr>
          <p:cNvPr id="33" name="Picture 32" descr="t-lucia-distancia-sal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827" y="3192035"/>
            <a:ext cx="3201771" cy="474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0" y="429785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Mismo turno · Mateo</a:t>
            </a:r>
          </a:p>
        </p:txBody>
      </p:sp>
      <p:pic>
        <p:nvPicPr>
          <p:cNvPr id="35" name="Picture 34" descr="s08-mate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617891"/>
            <a:ext cx="7071055" cy="895426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36" name="Rounded Rectangle 35"/>
          <p:cNvSpPr/>
          <p:nvPr/>
        </p:nvSpPr>
        <p:spPr>
          <a:xfrm>
            <a:off x="10564348" y="5623045"/>
            <a:ext cx="987266" cy="28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C332B"/>
            </a:solidFill>
          </a:ln>
        </p:spPr>
        <p:txBody>
          <a:bodyPr rtlCol="0" anchor="ctr" lIns="18288" rIns="18288" tIns="18288" bIns="18288"/>
          <a:lstStyle/>
          <a:p>
            <a:pPr algn="ctr"/>
            <a:r>
              <a:rPr sz="1200" b="1">
                <a:solidFill>
                  <a:srgbClr val="AC332B"/>
                </a:solidFill>
                <a:latin typeface="Arial"/>
              </a:rPr>
              <a:t>Sin cierre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Cada excepción queda diferenciada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Tarde no es lo mismo que no llegó, ni que no marcó la salida o que fichó fuera del radio.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CUANDO ALGO NO SALE SEGÚN LO PREVISTO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33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939F"/>
                </a:solidFill>
                <a:latin typeface="Arial"/>
              </a:rPr>
              <a:t>Asistencias · 25/10/2026</a:t>
            </a:r>
          </a:p>
        </p:txBody>
      </p:sp>
      <p:pic>
        <p:nvPicPr>
          <p:cNvPr id="8" name="Picture 7" descr="c-incid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9094"/>
            <a:ext cx="8503920" cy="1977334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cxnSp>
        <p:nvCxnSpPr>
          <p:cNvPr id="9" name="Connector 8"/>
          <p:cNvCxnSpPr/>
          <p:nvPr/>
        </p:nvCxnSpPr>
        <p:spPr>
          <a:xfrm>
            <a:off x="9144000" y="2614349"/>
            <a:ext cx="228600" cy="0"/>
          </a:xfrm>
          <a:prstGeom prst="line">
            <a:avLst/>
          </a:prstGeom>
          <a:ln w="15875">
            <a:solidFill>
              <a:srgbClr val="AC332B"/>
            </a:solidFill>
          </a:ln>
        </p:spPr>
      </p:cxnSp>
      <p:sp>
        <p:nvSpPr>
          <p:cNvPr id="10" name="Rounded Rectangle 9"/>
          <p:cNvSpPr/>
          <p:nvPr/>
        </p:nvSpPr>
        <p:spPr>
          <a:xfrm>
            <a:off x="9418320" y="2481634"/>
            <a:ext cx="1030136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C332B"/>
            </a:solidFill>
          </a:ln>
        </p:spPr>
        <p:txBody>
          <a:bodyPr rtlCol="0" anchor="ctr" lIns="18288" rIns="18288" tIns="18288" bIns="18288"/>
          <a:lstStyle/>
          <a:p>
            <a:pPr algn="ctr"/>
            <a:r>
              <a:rPr sz="1100" b="1">
                <a:solidFill>
                  <a:srgbClr val="AC332B"/>
                </a:solidFill>
                <a:latin typeface="Arial"/>
              </a:rPr>
              <a:t>Sin llegada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950366"/>
            <a:ext cx="228600" cy="0"/>
          </a:xfrm>
          <a:prstGeom prst="line">
            <a:avLst/>
          </a:prstGeom>
          <a:ln w="15875">
            <a:solidFill>
              <a:srgbClr val="A95E2A"/>
            </a:solidFill>
          </a:ln>
        </p:spPr>
      </p:cxnSp>
      <p:sp>
        <p:nvSpPr>
          <p:cNvPr id="12" name="Rounded Rectangle 11"/>
          <p:cNvSpPr/>
          <p:nvPr/>
        </p:nvSpPr>
        <p:spPr>
          <a:xfrm>
            <a:off x="9418320" y="2817651"/>
            <a:ext cx="1946306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5E2A"/>
            </a:solidFill>
          </a:ln>
        </p:spPr>
        <p:txBody>
          <a:bodyPr rtlCol="0" anchor="ctr" lIns="18288" rIns="18288" tIns="18288" bIns="18288"/>
          <a:lstStyle/>
          <a:p>
            <a:pPr algn="ctr"/>
            <a:r>
              <a:rPr sz="1100" b="1">
                <a:solidFill>
                  <a:srgbClr val="A95E2A"/>
                </a:solidFill>
                <a:latin typeface="Arial"/>
              </a:rPr>
              <a:t>Fuera del radio, revisado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3286384"/>
            <a:ext cx="228600" cy="0"/>
          </a:xfrm>
          <a:prstGeom prst="line">
            <a:avLst/>
          </a:prstGeom>
          <a:ln w="15875">
            <a:solidFill>
              <a:srgbClr val="AC332B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9418320" y="3153669"/>
            <a:ext cx="944799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C332B"/>
            </a:solidFill>
          </a:ln>
        </p:spPr>
        <p:txBody>
          <a:bodyPr rtlCol="0" anchor="ctr" lIns="18288" rIns="18288" tIns="18288" bIns="18288"/>
          <a:lstStyle/>
          <a:p>
            <a:pPr algn="ctr"/>
            <a:r>
              <a:rPr sz="1100" b="1">
                <a:solidFill>
                  <a:srgbClr val="AC332B"/>
                </a:solidFill>
                <a:latin typeface="Arial"/>
              </a:rPr>
              <a:t>Sin salida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0" y="3622401"/>
            <a:ext cx="228600" cy="0"/>
          </a:xfrm>
          <a:prstGeom prst="line">
            <a:avLst/>
          </a:prstGeom>
          <a:ln w="15875">
            <a:solidFill>
              <a:srgbClr val="AC332B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9418320" y="3489686"/>
            <a:ext cx="1363637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C332B"/>
            </a:solidFill>
          </a:ln>
        </p:spPr>
        <p:txBody>
          <a:bodyPr rtlCol="0" anchor="ctr" lIns="18288" rIns="18288" tIns="18288" bIns="18288"/>
          <a:lstStyle/>
          <a:p>
            <a:pPr algn="ctr"/>
            <a:r>
              <a:rPr sz="1100" b="1">
                <a:solidFill>
                  <a:srgbClr val="AC332B"/>
                </a:solidFill>
                <a:latin typeface="Arial"/>
              </a:rPr>
              <a:t>Confirmó y faltó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0" y="3958419"/>
            <a:ext cx="228600" cy="0"/>
          </a:xfrm>
          <a:prstGeom prst="line">
            <a:avLst/>
          </a:prstGeom>
          <a:ln w="15875">
            <a:solidFill>
              <a:srgbClr val="A95E2A"/>
            </a:solidFill>
          </a:ln>
        </p:spPr>
      </p:cxnSp>
      <p:sp>
        <p:nvSpPr>
          <p:cNvPr id="18" name="Rounded Rectangle 17"/>
          <p:cNvSpPr/>
          <p:nvPr/>
        </p:nvSpPr>
        <p:spPr>
          <a:xfrm>
            <a:off x="9418320" y="3825704"/>
            <a:ext cx="1045558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5E2A"/>
            </a:solidFill>
          </a:ln>
        </p:spPr>
        <p:txBody>
          <a:bodyPr rtlCol="0" anchor="ctr" lIns="18288" rIns="18288" tIns="18288" bIns="18288"/>
          <a:lstStyle/>
          <a:p>
            <a:pPr algn="ctr"/>
            <a:r>
              <a:rPr sz="1100" b="1">
                <a:solidFill>
                  <a:srgbClr val="A95E2A"/>
                </a:solidFill>
                <a:latin typeface="Arial"/>
              </a:rPr>
              <a:t>Llegó tarde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Ausencias y reemplazos: la cobertura antes del turno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Los candidatos se ordenan según datos reales del sistema y el responsable decide quién cubre.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CUANDO ALGO NO SALE SEGÚN LO PREVISTO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886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WhatsApp de Diego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494"/>
            <a:ext cx="2788920" cy="4068826"/>
          </a:xfrm>
          <a:prstGeom prst="roundRect">
            <a:avLst>
              <a:gd name="adj" fmla="val 9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5" y="2002790"/>
            <a:ext cx="2624327" cy="3904234"/>
          </a:xfrm>
          <a:prstGeom prst="roundRect">
            <a:avLst>
              <a:gd name="adj" fmla="val 7000"/>
            </a:avLst>
          </a:prstGeom>
          <a:solidFill>
            <a:srgbClr val="EEEF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5" y="2203958"/>
            <a:ext cx="2624327" cy="182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5" y="2002790"/>
            <a:ext cx="262432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4499" y="2066797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22375" y="2386838"/>
            <a:ext cx="2624328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813815" y="2859151"/>
            <a:ext cx="2031304" cy="110045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7" y="2904871"/>
            <a:ext cx="1921576" cy="99072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¿Qué necesitás informar?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1. No voy a una jornada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2. Informar una ausencia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3. Solicitar vacaciones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Respondé con el número de la opción.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" y="3801554"/>
            <a:ext cx="1958152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18:11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0489" y="4023614"/>
            <a:ext cx="474774" cy="336168"/>
          </a:xfrm>
          <a:prstGeom prst="roundRect">
            <a:avLst>
              <a:gd name="adj" fmla="val 30000"/>
            </a:avLst>
          </a:prstGeom>
          <a:solidFill>
            <a:srgbClr val="DCEF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3641" y="4069334"/>
            <a:ext cx="365046" cy="226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0489" y="4201731"/>
            <a:ext cx="401622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18:11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" y="4423791"/>
            <a:ext cx="1984666" cy="135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7" y="4469511"/>
            <a:ext cx="1874938" cy="124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Entendido. Registramos que no estás disponible para: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Torre Corporativa — Microcentro - Av. Leandro N. Alem 820 - CABA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25/10/2026 — 19:00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B2430"/>
                </a:solidFill>
                <a:latin typeface="Arial"/>
              </a:rPr>
              <a:t>Administración podrá revisar esta respuesta desde el panel.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" y="5620956"/>
            <a:ext cx="1911514" cy="1073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650" b="0">
                <a:solidFill>
                  <a:srgbClr val="8A939F"/>
                </a:solidFill>
                <a:latin typeface="Arial"/>
              </a:rPr>
              <a:t>18:11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192049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D742E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1966214"/>
            <a:ext cx="2009546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B2430"/>
                </a:solidFill>
                <a:latin typeface="Arial"/>
              </a:rPr>
              <a:t>Dinamic Operations propone candidatos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34658" y="2121662"/>
            <a:ext cx="228600" cy="0"/>
          </a:xfrm>
          <a:prstGeom prst="line">
            <a:avLst/>
          </a:prstGeom>
          <a:ln w="15875">
            <a:solidFill>
              <a:srgbClr val="8A939F"/>
            </a:solidFill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6608978" y="192049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D742E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6450" y="1966214"/>
            <a:ext cx="2009546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B2430"/>
                </a:solidFill>
                <a:latin typeface="Arial"/>
              </a:rPr>
              <a:t>Valeria define la cobertura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11716" y="2121662"/>
            <a:ext cx="228600" cy="0"/>
          </a:xfrm>
          <a:prstGeom prst="line">
            <a:avLst/>
          </a:prstGeom>
          <a:ln w="15875">
            <a:solidFill>
              <a:srgbClr val="8A939F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9286036" y="192049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D742E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3508" y="1966214"/>
            <a:ext cx="2009546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B2430"/>
                </a:solidFill>
                <a:latin typeface="Arial"/>
              </a:rPr>
              <a:t>La operación lo refleja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2697734"/>
            <a:ext cx="235701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288061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939F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880614"/>
            <a:ext cx="171693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B2430"/>
                </a:solidFill>
                <a:latin typeface="Arial"/>
              </a:rPr>
              <a:t>Sofía Romero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14800" y="3310382"/>
            <a:ext cx="1991258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4114800" y="338353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939F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383534"/>
            <a:ext cx="171693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B2430"/>
                </a:solidFill>
                <a:latin typeface="Arial"/>
              </a:rPr>
              <a:t>Camila Duarte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114800" y="3813302"/>
            <a:ext cx="1991258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4114800" y="388645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939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886454"/>
            <a:ext cx="171693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B2430"/>
                </a:solidFill>
                <a:latin typeface="Arial"/>
              </a:rPr>
              <a:t>Elena Vargas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617974"/>
            <a:ext cx="235701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3"/>
                </a:solidFill>
                <a:latin typeface="Arial"/>
              </a:rPr>
              <a:t>Orden calculado para el turno de Diego en Torre Corporativa.</a:t>
            </a:r>
          </a:p>
        </p:txBody>
      </p:sp>
      <p:pic>
        <p:nvPicPr>
          <p:cNvPr id="41" name="Picture 40" descr="s11-di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978" y="2697734"/>
            <a:ext cx="2357018" cy="1846375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42" name="TextBox 41"/>
          <p:cNvSpPr txBox="1"/>
          <p:nvPr/>
        </p:nvSpPr>
        <p:spPr>
          <a:xfrm>
            <a:off x="9286036" y="2697734"/>
            <a:ext cx="235701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2824A"/>
                </a:solidFill>
                <a:latin typeface="Arial"/>
              </a:rPr>
              <a:t>Cobertura elegida</a:t>
            </a:r>
          </a:p>
        </p:txBody>
      </p:sp>
      <p:pic>
        <p:nvPicPr>
          <p:cNvPr id="43" name="Picture 42" descr="s11-sof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036" y="2990342"/>
            <a:ext cx="2357018" cy="47284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286036" y="3737509"/>
            <a:ext cx="235701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B6573"/>
                </a:solidFill>
                <a:latin typeface="Arial"/>
              </a:rPr>
              <a:t>Historial de la operación</a:t>
            </a:r>
          </a:p>
        </p:txBody>
      </p:sp>
      <p:pic>
        <p:nvPicPr>
          <p:cNvPr id="45" name="Picture 44" descr="s11-diego-histo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036" y="4030117"/>
            <a:ext cx="2357018" cy="3789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931920" y="5715000"/>
            <a:ext cx="771113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B2430"/>
                </a:solidFill>
                <a:latin typeface="Arial"/>
              </a:rPr>
              <a:t>Dinamic Operations propone candidatos y el responsable define la cobertura.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Inicio: el día de un vistazo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Las jornadas generadas por las operaciones alimentan el Inicio. Cada número sale de lo que ya vimos.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GESTIÓN</a:t>
            </a:r>
          </a:p>
        </p:txBody>
      </p:sp>
      <p:pic>
        <p:nvPicPr>
          <p:cNvPr id="7" name="Picture 6" descr="s02-e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729519"/>
            <a:ext cx="8778240" cy="4313615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4637098" y="3188003"/>
            <a:ext cx="2770376" cy="759408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37098" y="3972296"/>
            <a:ext cx="2770376" cy="71039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7883" y="3972296"/>
            <a:ext cx="2868457" cy="71039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90833" y="5540884"/>
            <a:ext cx="2917497" cy="391771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7883" y="5540884"/>
            <a:ext cx="2917497" cy="391771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Asistencias: cada jornada con su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Un fichaje de WhatsApp y una corrección manual no se presentan como lo mismo.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GESTIÓN</a:t>
            </a:r>
          </a:p>
        </p:txBody>
      </p:sp>
      <p:pic>
        <p:nvPicPr>
          <p:cNvPr id="7" name="Picture 6" descr="c-asist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6174"/>
            <a:ext cx="11094415" cy="1093621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975207" y="3059835"/>
            <a:ext cx="10241280" cy="255666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t-julian-ok-s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63" y="3279291"/>
            <a:ext cx="4124829" cy="285784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1194663" y="3656516"/>
            <a:ext cx="9802368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194663" y="3747956"/>
            <a:ext cx="3115055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HORA</a:t>
            </a:r>
          </a:p>
        </p:txBody>
      </p:sp>
      <p:pic>
        <p:nvPicPr>
          <p:cNvPr id="12" name="Picture 11" descr="t-lucia-llega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663" y="4003988"/>
            <a:ext cx="3115055" cy="4810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8319" y="3747956"/>
            <a:ext cx="3115055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DISTANCIA</a:t>
            </a:r>
          </a:p>
        </p:txBody>
      </p:sp>
      <p:pic>
        <p:nvPicPr>
          <p:cNvPr id="14" name="Picture 13" descr="t-julian-pend-distancia-llega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319" y="4003988"/>
            <a:ext cx="3110292" cy="4620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81975" y="3747956"/>
            <a:ext cx="3115055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VALIDACIÓN</a:t>
            </a:r>
          </a:p>
        </p:txBody>
      </p:sp>
      <p:pic>
        <p:nvPicPr>
          <p:cNvPr id="16" name="Picture 15" descr="t-julian-ok-estad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975" y="4003988"/>
            <a:ext cx="3115055" cy="4763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94663" y="4645653"/>
            <a:ext cx="3115055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PUNTUALIDAD</a:t>
            </a:r>
          </a:p>
        </p:txBody>
      </p:sp>
      <p:pic>
        <p:nvPicPr>
          <p:cNvPr id="18" name="Picture 17" descr="t-lucia-estado-llega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4663" y="4901685"/>
            <a:ext cx="3110292" cy="4810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38319" y="4645653"/>
            <a:ext cx="3115055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ORIGEN</a:t>
            </a:r>
          </a:p>
        </p:txBody>
      </p:sp>
      <p:pic>
        <p:nvPicPr>
          <p:cNvPr id="20" name="Picture 19" descr="t-lucia-origen-llega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8319" y="4901685"/>
            <a:ext cx="3110292" cy="4810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81975" y="4645653"/>
            <a:ext cx="3115055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REVISIÓN</a:t>
            </a:r>
          </a:p>
        </p:txBody>
      </p:sp>
      <p:pic>
        <p:nvPicPr>
          <p:cNvPr id="22" name="Picture 21" descr="t-lucia-situac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1975" y="4901685"/>
            <a:ext cx="3110292" cy="495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Estadísticas: del fichaje a la lectura de la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General, por empleado, por operación, por servicio e incidencias.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GESTIÓN</a:t>
            </a:r>
          </a:p>
        </p:txBody>
      </p:sp>
      <p:pic>
        <p:nvPicPr>
          <p:cNvPr id="7" name="Picture 6" descr="s14-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554734"/>
            <a:ext cx="3423513" cy="171447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pic>
        <p:nvPicPr>
          <p:cNvPr id="8" name="Picture 7" descr="s14-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7" y="1863341"/>
            <a:ext cx="8778240" cy="2396761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3904978" y="2642470"/>
            <a:ext cx="2167044" cy="768011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19672" y="2642470"/>
            <a:ext cx="2167044" cy="768011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04978" y="3417893"/>
            <a:ext cx="2167044" cy="7579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D74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6727" y="439726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B2430"/>
                </a:solidFill>
                <a:latin typeface="Arial"/>
              </a:rPr>
              <a:t>Por servicio</a:t>
            </a:r>
          </a:p>
        </p:txBody>
      </p:sp>
      <p:pic>
        <p:nvPicPr>
          <p:cNvPr id="13" name="Picture 12" descr="s14-servic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727" y="4689871"/>
            <a:ext cx="8778240" cy="1027183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Reporte diario por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Resumen del día anterior + archivo XLSX para análisis, según el horario configurado.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GESTIÓN</a:t>
            </a:r>
          </a:p>
        </p:txBody>
      </p:sp>
      <p:pic>
        <p:nvPicPr>
          <p:cNvPr id="7" name="Picture 6" descr="s13-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894"/>
            <a:ext cx="5760720" cy="2756325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720840" y="1691894"/>
            <a:ext cx="49222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B2430"/>
                </a:solidFill>
                <a:latin typeface="Arial"/>
              </a:rPr>
              <a:t>Adjunto · hoja Incidencias</a:t>
            </a:r>
          </a:p>
        </p:txBody>
      </p:sp>
      <p:pic>
        <p:nvPicPr>
          <p:cNvPr id="9" name="Picture 8" descr="s13-xls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57654"/>
            <a:ext cx="4922215" cy="894467"/>
          </a:xfrm>
          <a:prstGeom prst="rect">
            <a:avLst/>
          </a:prstGeom>
          <a:ln w="9525">
            <a:solidFill>
              <a:srgbClr val="D9DEE5"/>
            </a:solidFill>
          </a:ln>
          <a:effectLst>
            <a:outerShdw blurRad="114300" dist="25400" dir="5400000" algn="t" rotWithShape="0">
              <a:srgbClr val="1B2430">
                <a:alpha val="1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720840" y="3061849"/>
            <a:ext cx="49222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3"/>
                </a:solidFill>
                <a:latin typeface="Arial"/>
              </a:rPr>
              <a:t>reporte-asistencia-2026-10-24.xlsx · Resumen, Jornadas, Incidencias y Servicios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729361"/>
            <a:ext cx="49222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B2430"/>
                </a:solidFill>
                <a:latin typeface="Arial"/>
              </a:rPr>
              <a:t>Configuración de la empresa</a:t>
            </a:r>
          </a:p>
        </p:txBody>
      </p:sp>
      <p:pic>
        <p:nvPicPr>
          <p:cNvPr id="12" name="Picture 11" descr="s13-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076833"/>
            <a:ext cx="3051773" cy="302655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Puesta en marcha desde cero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Dinamic abre la empresa; el administrador configura y carga; la prueba por WhatsApp se hace en conjunto.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ONBOARDING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2103374"/>
            <a:ext cx="9265615" cy="0"/>
          </a:xfrm>
          <a:prstGeom prst="line">
            <a:avLst/>
          </a:prstGeom>
          <a:ln w="19050">
            <a:solidFill>
              <a:srgbClr val="D9DEE5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380744" y="202107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198" y="2304542"/>
            <a:ext cx="1761683" cy="4419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01 · Dinamic crea la empresa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198" y="2773933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Alta e invitación al administrador</a:t>
            </a:r>
          </a:p>
        </p:txBody>
      </p:sp>
      <p:sp>
        <p:nvSpPr>
          <p:cNvPr id="11" name="Oval 10"/>
          <p:cNvSpPr/>
          <p:nvPr/>
        </p:nvSpPr>
        <p:spPr>
          <a:xfrm>
            <a:off x="3233867" y="202107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5321" y="2304542"/>
            <a:ext cx="1761683" cy="4419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02 · El administrador ingresa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5321" y="2773933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Acepta la invitación</a:t>
            </a:r>
          </a:p>
        </p:txBody>
      </p:sp>
      <p:sp>
        <p:nvSpPr>
          <p:cNvPr id="14" name="Oval 13"/>
          <p:cNvSpPr/>
          <p:nvPr/>
        </p:nvSpPr>
        <p:spPr>
          <a:xfrm>
            <a:off x="5086990" y="202107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444" y="2304542"/>
            <a:ext cx="1761683" cy="243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03 · Configura reglas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444" y="2575814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Horario, radio, tolerancias, alertas</a:t>
            </a:r>
          </a:p>
        </p:txBody>
      </p:sp>
      <p:sp>
        <p:nvSpPr>
          <p:cNvPr id="17" name="Oval 16"/>
          <p:cNvSpPr/>
          <p:nvPr/>
        </p:nvSpPr>
        <p:spPr>
          <a:xfrm>
            <a:off x="6940113" y="202107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304542"/>
            <a:ext cx="1761683" cy="243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04 · Carga clientes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567" y="2575814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Opcional, recomendado</a:t>
            </a:r>
          </a:p>
        </p:txBody>
      </p:sp>
      <p:sp>
        <p:nvSpPr>
          <p:cNvPr id="20" name="Oval 19"/>
          <p:cNvSpPr/>
          <p:nvPr/>
        </p:nvSpPr>
        <p:spPr>
          <a:xfrm>
            <a:off x="8793236" y="202107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4690" y="2304542"/>
            <a:ext cx="1761683" cy="243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05 · Carga servicios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4690" y="2575814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Dirección, punto y radio</a:t>
            </a:r>
          </a:p>
        </p:txBody>
      </p:sp>
      <p:sp>
        <p:nvSpPr>
          <p:cNvPr id="23" name="Oval 22"/>
          <p:cNvSpPr/>
          <p:nvPr/>
        </p:nvSpPr>
        <p:spPr>
          <a:xfrm>
            <a:off x="10646359" y="202107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7813" y="2304542"/>
            <a:ext cx="1761683" cy="4419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06 · Carga colaboradores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7813" y="2773933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Nombre y WhatsApp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63040" y="4115054"/>
            <a:ext cx="7412492" cy="0"/>
          </a:xfrm>
          <a:prstGeom prst="line">
            <a:avLst/>
          </a:prstGeom>
          <a:ln w="19050">
            <a:solidFill>
              <a:srgbClr val="D9DEE5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1380744" y="40327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2198" y="4316222"/>
            <a:ext cx="1761683" cy="243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07 · Crea la operación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198" y="4587494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Servicio, fecha y horario</a:t>
            </a:r>
          </a:p>
        </p:txBody>
      </p:sp>
      <p:sp>
        <p:nvSpPr>
          <p:cNvPr id="30" name="Oval 29"/>
          <p:cNvSpPr/>
          <p:nvPr/>
        </p:nvSpPr>
        <p:spPr>
          <a:xfrm>
            <a:off x="3233867" y="40327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5321" y="4316222"/>
            <a:ext cx="1761683" cy="243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08 · Asigna personas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5321" y="4587494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Cada asignación genera una jornada</a:t>
            </a:r>
          </a:p>
        </p:txBody>
      </p:sp>
      <p:sp>
        <p:nvSpPr>
          <p:cNvPr id="33" name="Oval 32"/>
          <p:cNvSpPr/>
          <p:nvPr/>
        </p:nvSpPr>
        <p:spPr>
          <a:xfrm>
            <a:off x="5086990" y="40327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444" y="4316222"/>
            <a:ext cx="1761683" cy="4419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09 · Prueba por WhatsApp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8444" y="4785614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Llegué, ubicación, Me voy</a:t>
            </a:r>
          </a:p>
        </p:txBody>
      </p:sp>
      <p:sp>
        <p:nvSpPr>
          <p:cNvPr id="36" name="Oval 35"/>
          <p:cNvSpPr/>
          <p:nvPr/>
        </p:nvSpPr>
        <p:spPr>
          <a:xfrm>
            <a:off x="6940113" y="4032758"/>
            <a:ext cx="164592" cy="164592"/>
          </a:xfrm>
          <a:prstGeom prst="ellipse">
            <a:avLst/>
          </a:prstGeom>
          <a:solidFill>
            <a:srgbClr val="1B24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1567" y="4316222"/>
            <a:ext cx="1761683" cy="243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B2430"/>
                </a:solidFill>
                <a:latin typeface="Arial"/>
              </a:rPr>
              <a:t>10 · Revisa el Inicio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1567" y="4587494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Los casos de prueba en el panel</a:t>
            </a:r>
          </a:p>
        </p:txBody>
      </p:sp>
      <p:sp>
        <p:nvSpPr>
          <p:cNvPr id="39" name="Oval 38"/>
          <p:cNvSpPr/>
          <p:nvPr/>
        </p:nvSpPr>
        <p:spPr>
          <a:xfrm>
            <a:off x="8793236" y="4032758"/>
            <a:ext cx="164592" cy="164592"/>
          </a:xfrm>
          <a:prstGeom prst="ellipse">
            <a:avLst/>
          </a:prstGeom>
          <a:solidFill>
            <a:srgbClr val="ED7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94690" y="4316222"/>
            <a:ext cx="1761683" cy="243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ED742E"/>
                </a:solidFill>
                <a:latin typeface="Arial"/>
              </a:rPr>
              <a:t>11 · Primer reporte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4690" y="4587494"/>
            <a:ext cx="176168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B6573"/>
                </a:solidFill>
                <a:latin typeface="Arial"/>
              </a:rPr>
              <a:t>Resumen y XLSX por email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Checklist para empezar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6414"/>
            <a:ext cx="11094415" cy="299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Todo esto se puede cargar a mano o importar desde planilla. Importar no les envía mensajes a las personas.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ONBOARDING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737614"/>
            <a:ext cx="5272887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186563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D742E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29054"/>
            <a:ext cx="47699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Usuarios administradores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39950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Quién configura y quién supervisa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487422"/>
            <a:ext cx="5272887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61543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D742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78862"/>
            <a:ext cx="47699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89757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Las cuentas para las que se trabaja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237230"/>
            <a:ext cx="5272887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336524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D742E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28670"/>
            <a:ext cx="47699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Servicios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39566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Cada lugar físico donde se trabaja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3987038"/>
            <a:ext cx="5272887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548640" y="411505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D742E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78478"/>
            <a:ext cx="47699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Direcciones o coordenadas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89374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La puerta donde se entra: el punto del radio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70167" y="1737614"/>
            <a:ext cx="5272888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370167" y="186563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D742E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3087" y="1829054"/>
            <a:ext cx="47699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Colaboradores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3087" y="2139950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Nombre y tipo, fijo o eventual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70167" y="2487422"/>
            <a:ext cx="5272888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370167" y="261543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D742E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3087" y="2578862"/>
            <a:ext cx="47699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Teléfonos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3087" y="2889757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El WhatsApp de cada persona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70167" y="3237230"/>
            <a:ext cx="5272888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370167" y="336524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D742E"/>
                </a:solidFill>
                <a:latin typeface="Arial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3087" y="3328670"/>
            <a:ext cx="47699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Horarios y tolerancias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3087" y="3639566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Cuándo empieza cada turno y qué es tarde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70167" y="3987038"/>
            <a:ext cx="5272888" cy="0"/>
          </a:xfrm>
          <a:prstGeom prst="line">
            <a:avLst/>
          </a:prstGeom>
          <a:ln w="9525">
            <a:solidFill>
              <a:srgbClr val="D9DEE5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370167" y="411505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D742E"/>
                </a:solidFill>
                <a:latin typeface="Arial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3087" y="4078478"/>
            <a:ext cx="476996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2430"/>
                </a:solidFill>
                <a:latin typeface="Arial"/>
              </a:rPr>
              <a:t>Responsables de alertas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3087" y="4389374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573"/>
                </a:solidFill>
                <a:latin typeface="Arial"/>
              </a:rPr>
              <a:t>Quién recibe los avisos y el reporte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Dinamic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A939F"/>
                </a:solidFill>
                <a:latin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2430"/>
                </a:solidFill>
                <a:latin typeface="Arial"/>
              </a:rPr>
              <a:t>Próximo paso: una operación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D742E"/>
                </a:solidFill>
                <a:latin typeface="Arial"/>
              </a:rPr>
              <a:t>ONBOARDING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47622"/>
            <a:ext cx="73152" cy="2377440"/>
          </a:xfrm>
          <a:prstGeom prst="rect">
            <a:avLst/>
          </a:prstGeom>
          <a:solidFill>
            <a:srgbClr val="ED7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47622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Un servicio.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283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Un equipo.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8054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Una operación.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0327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Una semana de uso.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0822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B6573"/>
                </a:solidFill>
                <a:latin typeface="Arial"/>
              </a:rPr>
              <a:t>Cada día se revisa el Inicio y el reporte diario. Si con eso el responsable sabe quién llegó, quién falta y qué hay que mirar, se carga el resto.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Dinamic Operations — Presentación comercial y de onboarding</dc:title>
  <dc:subject/>
  <dc:creator>Dinamic</dc:creator>
  <cp:keywords/>
  <dc:description>generated using python-pptx</dc:description>
  <cp:lastModifiedBy>Dinamic</cp:lastModifiedBy>
  <cp:revision>1</cp:revision>
  <dcterms:created xsi:type="dcterms:W3CDTF">2013-01-27T09:14:16Z</dcterms:created>
  <dcterms:modified xsi:type="dcterms:W3CDTF">2013-01-27T09:15:58Z</dcterms:modified>
  <cp:category/>
</cp:coreProperties>
</file>